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72" r:id="rId10"/>
    <p:sldId id="264" r:id="rId11"/>
    <p:sldId id="265" r:id="rId12"/>
    <p:sldId id="266" r:id="rId13"/>
    <p:sldId id="267" r:id="rId14"/>
    <p:sldId id="268" r:id="rId15"/>
    <p:sldId id="269" r:id="rId16"/>
    <p:sldId id="270" r:id="rId17"/>
    <p:sldId id="273" r:id="rId18"/>
    <p:sldId id="274" r:id="rId19"/>
    <p:sldId id="275" r:id="rId20"/>
    <p:sldId id="271"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5" d="100"/>
          <a:sy n="75" d="100"/>
        </p:scale>
        <p:origin x="946" y="1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hyperlink" Target="https://github.com/YaswanthKomminni/AI-AGENT-FARMING.git"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5803D"/>
        </a:solidFill>
        <a:effectLst/>
      </p:bgPr>
    </p:bg>
    <p:spTree>
      <p:nvGrpSpPr>
        <p:cNvPr id="1" name=""/>
        <p:cNvGrpSpPr/>
        <p:nvPr/>
      </p:nvGrpSpPr>
      <p:grpSpPr>
        <a:xfrm>
          <a:off x="0" y="0"/>
          <a:ext cx="0" cy="0"/>
          <a:chOff x="0" y="0"/>
          <a:chExt cx="0" cy="0"/>
        </a:xfrm>
      </p:grpSpPr>
      <p:sp>
        <p:nvSpPr>
          <p:cNvPr id="2" name="TextBox 1"/>
          <p:cNvSpPr txBox="1"/>
          <p:nvPr/>
        </p:nvSpPr>
        <p:spPr>
          <a:xfrm>
            <a:off x="914400" y="2011680"/>
            <a:ext cx="10360152" cy="1828800"/>
          </a:xfrm>
          <a:prstGeom prst="rect">
            <a:avLst/>
          </a:prstGeom>
          <a:noFill/>
        </p:spPr>
        <p:txBody>
          <a:bodyPr wrap="square">
            <a:spAutoFit/>
          </a:bodyPr>
          <a:lstStyle/>
          <a:p>
            <a:pPr algn="ctr">
              <a:defRPr sz="4400" b="1">
                <a:solidFill>
                  <a:srgbClr val="FFFFFF"/>
                </a:solidFill>
                <a:latin typeface="Arial"/>
              </a:defRPr>
            </a:pPr>
            <a:r>
              <a:t>IBM University Engagement</a:t>
            </a:r>
            <a:br/>
            <a:r>
              <a:t>Project Submission</a:t>
            </a:r>
          </a:p>
        </p:txBody>
      </p:sp>
      <p:sp>
        <p:nvSpPr>
          <p:cNvPr id="3" name="TextBox 2"/>
          <p:cNvSpPr txBox="1"/>
          <p:nvPr/>
        </p:nvSpPr>
        <p:spPr>
          <a:xfrm>
            <a:off x="914400" y="4114800"/>
            <a:ext cx="10360152" cy="1371600"/>
          </a:xfrm>
          <a:prstGeom prst="rect">
            <a:avLst/>
          </a:prstGeom>
          <a:noFill/>
        </p:spPr>
        <p:txBody>
          <a:bodyPr wrap="square">
            <a:spAutoFit/>
          </a:bodyPr>
          <a:lstStyle/>
          <a:p>
            <a:pPr algn="ctr">
              <a:defRPr sz="2200" i="1">
                <a:solidFill>
                  <a:srgbClr val="DCFCE7"/>
                </a:solidFill>
                <a:latin typeface="Arial"/>
              </a:defRPr>
            </a:pPr>
            <a:r>
              <a:t>“Exploring the Power of Agentic AI with IBM Granite and RAG”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17352" cy="731520"/>
          </a:xfrm>
          <a:prstGeom prst="rect">
            <a:avLst/>
          </a:prstGeom>
          <a:noFill/>
        </p:spPr>
        <p:txBody>
          <a:bodyPr wrap="square">
            <a:spAutoFit/>
          </a:bodyPr>
          <a:lstStyle/>
          <a:p>
            <a:pPr>
              <a:defRPr sz="2800" b="1">
                <a:solidFill>
                  <a:srgbClr val="15803D"/>
                </a:solidFill>
                <a:latin typeface="Arial"/>
              </a:defRPr>
            </a:pPr>
            <a:r>
              <a:t>Project Profile &amp; Team Details</a:t>
            </a:r>
          </a:p>
        </p:txBody>
      </p:sp>
      <p:sp>
        <p:nvSpPr>
          <p:cNvPr id="3" name="TextBox 2"/>
          <p:cNvSpPr txBox="1"/>
          <p:nvPr/>
        </p:nvSpPr>
        <p:spPr>
          <a:xfrm>
            <a:off x="685800" y="1188720"/>
            <a:ext cx="10817352" cy="1371600"/>
          </a:xfrm>
          <a:prstGeom prst="rect">
            <a:avLst/>
          </a:prstGeom>
          <a:noFill/>
        </p:spPr>
        <p:txBody>
          <a:bodyPr wrap="square">
            <a:spAutoFit/>
          </a:bodyPr>
          <a:lstStyle/>
          <a:p>
            <a:pPr>
              <a:defRPr sz="2200" b="1">
                <a:solidFill>
                  <a:srgbClr val="0F172A"/>
                </a:solidFill>
                <a:latin typeface="Arial"/>
              </a:defRPr>
            </a:pPr>
            <a:r>
              <a:t>Project Title – </a:t>
            </a:r>
            <a:r>
              <a:rPr b="0">
                <a:solidFill>
                  <a:srgbClr val="15803D"/>
                </a:solidFill>
              </a:rPr>
              <a:t>FarmWise AI — Smart Farming Advisor</a:t>
            </a:r>
          </a:p>
          <a:p>
            <a:pPr>
              <a:defRPr sz="2200" b="1">
                <a:solidFill>
                  <a:srgbClr val="0F172A"/>
                </a:solidFill>
                <a:latin typeface="Arial"/>
              </a:defRPr>
            </a:pPr>
            <a:r>
              <a:t>Domain of Project – </a:t>
            </a:r>
            <a:r>
              <a:rPr b="0">
                <a:solidFill>
                  <a:srgbClr val="15803D"/>
                </a:solidFill>
              </a:rPr>
              <a:t>Agriculture / Artificial Intelligence</a:t>
            </a:r>
          </a:p>
        </p:txBody>
      </p:sp>
      <p:graphicFrame>
        <p:nvGraphicFramePr>
          <p:cNvPr id="4" name="Table 3"/>
          <p:cNvGraphicFramePr>
            <a:graphicFrameLocks noGrp="1"/>
          </p:cNvGraphicFramePr>
          <p:nvPr>
            <p:extLst>
              <p:ext uri="{D42A27DB-BD31-4B8C-83A1-F6EECF244321}">
                <p14:modId xmlns:p14="http://schemas.microsoft.com/office/powerpoint/2010/main" val="1110242861"/>
              </p:ext>
            </p:extLst>
          </p:nvPr>
        </p:nvGraphicFramePr>
        <p:xfrm>
          <a:off x="685800" y="2743200"/>
          <a:ext cx="10817352" cy="3200400"/>
        </p:xfrm>
        <a:graphic>
          <a:graphicData uri="http://schemas.openxmlformats.org/drawingml/2006/table">
            <a:tbl>
              <a:tblPr firstRow="1" bandRow="1">
                <a:tableStyleId>{5C22544A-7EE6-4342-B048-85BDC9FD1C3A}</a:tableStyleId>
              </a:tblPr>
              <a:tblGrid>
                <a:gridCol w="2587752">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1600200">
                <a:tc>
                  <a:txBody>
                    <a:bodyPr/>
                    <a:lstStyle/>
                    <a:p>
                      <a:pPr algn="ctr">
                        <a:defRPr sz="1800" b="1">
                          <a:solidFill>
                            <a:srgbClr val="0F172A"/>
                          </a:solidFill>
                          <a:latin typeface="Arial"/>
                        </a:defRPr>
                      </a:pPr>
                      <a:r>
                        <a:t>Student Name</a:t>
                      </a:r>
                    </a:p>
                  </a:txBody>
                  <a:tcPr>
                    <a:solidFill>
                      <a:srgbClr val="BBF7D0"/>
                    </a:solidFill>
                  </a:tcPr>
                </a:tc>
                <a:tc>
                  <a:txBody>
                    <a:bodyPr/>
                    <a:lstStyle/>
                    <a:p>
                      <a:pPr algn="ctr">
                        <a:defRPr sz="1800" b="1">
                          <a:solidFill>
                            <a:srgbClr val="0F172A"/>
                          </a:solidFill>
                          <a:latin typeface="Arial"/>
                        </a:defRPr>
                      </a:pPr>
                      <a:r>
                        <a:t>Recent Passport Photo</a:t>
                      </a:r>
                    </a:p>
                  </a:txBody>
                  <a:tcPr>
                    <a:solidFill>
                      <a:srgbClr val="BBF7D0"/>
                    </a:solidFill>
                  </a:tcPr>
                </a:tc>
                <a:tc>
                  <a:txBody>
                    <a:bodyPr/>
                    <a:lstStyle/>
                    <a:p>
                      <a:pPr algn="ctr">
                        <a:defRPr sz="1800" b="1">
                          <a:solidFill>
                            <a:srgbClr val="0F172A"/>
                          </a:solidFill>
                          <a:latin typeface="Arial"/>
                        </a:defRPr>
                      </a:pPr>
                      <a:r>
                        <a:t>Email ID</a:t>
                      </a:r>
                    </a:p>
                  </a:txBody>
                  <a:tcPr>
                    <a:solidFill>
                      <a:srgbClr val="BBF7D0"/>
                    </a:solidFill>
                  </a:tcPr>
                </a:tc>
                <a:tc>
                  <a:txBody>
                    <a:bodyPr/>
                    <a:lstStyle/>
                    <a:p>
                      <a:pPr algn="ctr">
                        <a:defRPr sz="1800" b="1">
                          <a:solidFill>
                            <a:srgbClr val="0F172A"/>
                          </a:solidFill>
                          <a:latin typeface="Arial"/>
                        </a:defRPr>
                      </a:pPr>
                      <a:r>
                        <a:t>Mobile number</a:t>
                      </a:r>
                      <a:br/>
                      <a:r>
                        <a:t>[WhatsApp]</a:t>
                      </a:r>
                    </a:p>
                  </a:txBody>
                  <a:tcPr>
                    <a:solidFill>
                      <a:srgbClr val="BBF7D0"/>
                    </a:solidFill>
                  </a:tcPr>
                </a:tc>
                <a:extLst>
                  <a:ext uri="{0D108BD9-81ED-4DB2-BD59-A6C34878D82A}">
                    <a16:rowId xmlns:a16="http://schemas.microsoft.com/office/drawing/2014/main" val="10000"/>
                  </a:ext>
                </a:extLst>
              </a:tr>
              <a:tr h="1600200">
                <a:tc>
                  <a:txBody>
                    <a:bodyPr/>
                    <a:lstStyle/>
                    <a:p>
                      <a:pPr algn="ctr">
                        <a:defRPr sz="1800" b="1">
                          <a:solidFill>
                            <a:srgbClr val="37474F"/>
                          </a:solidFill>
                          <a:latin typeface="Arial"/>
                        </a:defRPr>
                      </a:pPr>
                      <a:r>
                        <a:t>Yaswanth Komminni</a:t>
                      </a:r>
                    </a:p>
                  </a:txBody>
                  <a:tcPr/>
                </a:tc>
                <a:tc>
                  <a:txBody>
                    <a:bodyPr/>
                    <a:lstStyle/>
                    <a:p>
                      <a:endParaRPr dirty="0"/>
                    </a:p>
                  </a:txBody>
                  <a:tcPr/>
                </a:tc>
                <a:tc>
                  <a:txBody>
                    <a:bodyPr/>
                    <a:lstStyle/>
                    <a:p>
                      <a:pPr algn="ctr">
                        <a:defRPr sz="1600">
                          <a:solidFill>
                            <a:srgbClr val="37474F"/>
                          </a:solidFill>
                          <a:latin typeface="Arial"/>
                        </a:defRPr>
                      </a:pPr>
                      <a:r>
                        <a:t>yaswanthkomminni06@gmail.com</a:t>
                      </a:r>
                    </a:p>
                  </a:txBody>
                  <a:tcPr/>
                </a:tc>
                <a:tc>
                  <a:txBody>
                    <a:bodyPr/>
                    <a:lstStyle/>
                    <a:p>
                      <a:pPr algn="ctr">
                        <a:defRPr sz="1600">
                          <a:solidFill>
                            <a:srgbClr val="37474F"/>
                          </a:solidFill>
                          <a:latin typeface="Arial"/>
                        </a:defRPr>
                      </a:pPr>
                      <a:r>
                        <a:rPr dirty="0"/>
                        <a:t>+91 </a:t>
                      </a:r>
                      <a:r>
                        <a:rPr lang="en-IN" dirty="0"/>
                        <a:t>9182257321</a:t>
                      </a:r>
                      <a:br>
                        <a:rPr dirty="0"/>
                      </a:br>
                      <a:endParaRPr dirty="0"/>
                    </a:p>
                  </a:txBody>
                  <a:tcPr/>
                </a:tc>
                <a:extLst>
                  <a:ext uri="{0D108BD9-81ED-4DB2-BD59-A6C34878D82A}">
                    <a16:rowId xmlns:a16="http://schemas.microsoft.com/office/drawing/2014/main" val="10001"/>
                  </a:ext>
                </a:extLst>
              </a:tr>
            </a:tbl>
          </a:graphicData>
        </a:graphic>
      </p:graphicFrame>
      <p:pic>
        <p:nvPicPr>
          <p:cNvPr id="7" name="Picture 6">
            <a:extLst>
              <a:ext uri="{FF2B5EF4-FFF2-40B4-BE49-F238E27FC236}">
                <a16:creationId xmlns:a16="http://schemas.microsoft.com/office/drawing/2014/main" id="{9D9B0BEB-F263-755A-AD96-BD697C7C6FC1}"/>
              </a:ext>
            </a:extLst>
          </p:cNvPr>
          <p:cNvPicPr>
            <a:picLocks noChangeAspect="1"/>
          </p:cNvPicPr>
          <p:nvPr/>
        </p:nvPicPr>
        <p:blipFill>
          <a:blip r:embed="rId2"/>
          <a:stretch>
            <a:fillRect/>
          </a:stretch>
        </p:blipFill>
        <p:spPr>
          <a:xfrm>
            <a:off x="3864078" y="4413447"/>
            <a:ext cx="1189703" cy="140089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17352" cy="731520"/>
          </a:xfrm>
          <a:prstGeom prst="rect">
            <a:avLst/>
          </a:prstGeom>
          <a:noFill/>
        </p:spPr>
        <p:txBody>
          <a:bodyPr wrap="square">
            <a:spAutoFit/>
          </a:bodyPr>
          <a:lstStyle/>
          <a:p>
            <a:pPr>
              <a:defRPr sz="2800" b="1">
                <a:solidFill>
                  <a:srgbClr val="15803D"/>
                </a:solidFill>
                <a:latin typeface="Arial"/>
              </a:defRPr>
            </a:pPr>
            <a:r>
              <a:t>Problem Statement - Smart Farming Agent</a:t>
            </a:r>
          </a:p>
        </p:txBody>
      </p:sp>
      <p:sp>
        <p:nvSpPr>
          <p:cNvPr id="3" name="TextBox 2"/>
          <p:cNvSpPr txBox="1"/>
          <p:nvPr/>
        </p:nvSpPr>
        <p:spPr>
          <a:xfrm>
            <a:off x="685800" y="1188720"/>
            <a:ext cx="10817352" cy="5029200"/>
          </a:xfrm>
          <a:prstGeom prst="rect">
            <a:avLst/>
          </a:prstGeom>
          <a:noFill/>
        </p:spPr>
        <p:txBody>
          <a:bodyPr wrap="square">
            <a:spAutoFit/>
          </a:bodyPr>
          <a:lstStyle/>
          <a:p>
            <a:pPr>
              <a:spcAft>
                <a:spcPts val="600"/>
              </a:spcAft>
              <a:defRPr sz="2200" b="1">
                <a:solidFill>
                  <a:srgbClr val="15803D"/>
                </a:solidFill>
                <a:latin typeface="Arial"/>
              </a:defRPr>
            </a:pPr>
            <a:r>
              <a:t>The Challenge</a:t>
            </a:r>
          </a:p>
          <a:p>
            <a:pPr>
              <a:spcAft>
                <a:spcPts val="2000"/>
              </a:spcAft>
              <a:defRPr sz="1600">
                <a:solidFill>
                  <a:srgbClr val="37474F"/>
                </a:solidFill>
                <a:latin typeface="Arial"/>
              </a:defRPr>
            </a:pPr>
            <a:r>
              <a:t>Small-scale and marginal farmers struggle to make timely, data-driven agricultural decisions due to a lack of real-time, localized guidance. Critical information on weather forecasts, soil compatibility, crop recommendations, pest diagnostics, and current market rates is scattered across unreliable sources and is rarely available in local languages. This knowledge gap increases crop loss risks, reduces yield potentials, and restricts overall income.</a:t>
            </a:r>
          </a:p>
          <a:p>
            <a:pPr>
              <a:spcAft>
                <a:spcPts val="600"/>
              </a:spcAft>
              <a:defRPr sz="2200" b="1">
                <a:solidFill>
                  <a:srgbClr val="15803D"/>
                </a:solidFill>
                <a:latin typeface="Arial"/>
              </a:defRPr>
            </a:pPr>
            <a:r>
              <a:t>The Objective</a:t>
            </a:r>
          </a:p>
          <a:p>
            <a:pPr>
              <a:spcAft>
                <a:spcPts val="1000"/>
              </a:spcAft>
              <a:defRPr sz="1600">
                <a:solidFill>
                  <a:srgbClr val="37474F"/>
                </a:solidFill>
                <a:latin typeface="Arial"/>
              </a:defRPr>
            </a:pPr>
            <a:r>
              <a:t>Build an AI-powered Smart Farming Advisor (FarmWise AI) leveraging RAG (Retrieval-Augmented Generation) and Agentic Routing to deliver real-time, localized, and multilingual agricultural advice. The solution must support:</a:t>
            </a:r>
          </a:p>
          <a:p>
            <a:pPr>
              <a:spcAft>
                <a:spcPts val="600"/>
              </a:spcAft>
              <a:defRPr sz="1500">
                <a:solidFill>
                  <a:srgbClr val="37474F"/>
                </a:solidFill>
                <a:latin typeface="Arial"/>
              </a:defRPr>
            </a:pPr>
            <a:r>
              <a:t>• Localized Crop Selection – Recommend best-fit crops based on season, soil type, and location.</a:t>
            </a:r>
          </a:p>
          <a:p>
            <a:pPr>
              <a:spcAft>
                <a:spcPts val="600"/>
              </a:spcAft>
              <a:defRPr sz="1500">
                <a:solidFill>
                  <a:srgbClr val="37474F"/>
                </a:solidFill>
                <a:latin typeface="Arial"/>
              </a:defRPr>
            </a:pPr>
            <a:r>
              <a:t>• Real-time Weather &amp; Mandi API Integration – Fetch live forecasts and commodity price feeds dynamically.</a:t>
            </a:r>
          </a:p>
          <a:p>
            <a:pPr>
              <a:spcAft>
                <a:spcPts val="600"/>
              </a:spcAft>
              <a:defRPr sz="1500">
                <a:solidFill>
                  <a:srgbClr val="37474F"/>
                </a:solidFill>
                <a:latin typeface="Arial"/>
              </a:defRPr>
            </a:pPr>
            <a:r>
              <a:t>• Targeted Pest Diagnosis &amp; Treatment – Diagnose symptoms and output step-by-step control measures.</a:t>
            </a:r>
          </a:p>
          <a:p>
            <a:pPr>
              <a:spcAft>
                <a:spcPts val="600"/>
              </a:spcAft>
              <a:defRPr sz="1500">
                <a:solidFill>
                  <a:srgbClr val="37474F"/>
                </a:solidFill>
                <a:latin typeface="Arial"/>
              </a:defRPr>
            </a:pPr>
            <a:r>
              <a:t>• Trusted RAG Knowledge Retrieval – Query curated agricultural databases to answer complex user questions.</a:t>
            </a:r>
          </a:p>
          <a:p>
            <a:pPr>
              <a:spcAft>
                <a:spcPts val="600"/>
              </a:spcAft>
              <a:defRPr sz="1500">
                <a:solidFill>
                  <a:srgbClr val="37474F"/>
                </a:solidFill>
                <a:latin typeface="Arial"/>
              </a:defRPr>
            </a:pPr>
            <a:r>
              <a:t>• Multilingual &amp; Voice Accessibility – Break the literacy barrier using speech inputs and regional language support.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17352" cy="731520"/>
          </a:xfrm>
          <a:prstGeom prst="rect">
            <a:avLst/>
          </a:prstGeom>
          <a:noFill/>
        </p:spPr>
        <p:txBody>
          <a:bodyPr wrap="square">
            <a:spAutoFit/>
          </a:bodyPr>
          <a:lstStyle/>
          <a:p>
            <a:pPr>
              <a:defRPr sz="2800" b="1">
                <a:solidFill>
                  <a:srgbClr val="15803D"/>
                </a:solidFill>
                <a:latin typeface="Arial"/>
              </a:defRPr>
            </a:pPr>
            <a:r>
              <a:t>Proposed Solution - FarmWise AI Advisor</a:t>
            </a:r>
          </a:p>
        </p:txBody>
      </p:sp>
      <p:sp>
        <p:nvSpPr>
          <p:cNvPr id="3" name="TextBox 2"/>
          <p:cNvSpPr txBox="1"/>
          <p:nvPr/>
        </p:nvSpPr>
        <p:spPr>
          <a:xfrm>
            <a:off x="685800" y="1188720"/>
            <a:ext cx="10817352" cy="5029200"/>
          </a:xfrm>
          <a:prstGeom prst="rect">
            <a:avLst/>
          </a:prstGeom>
          <a:noFill/>
        </p:spPr>
        <p:txBody>
          <a:bodyPr wrap="square">
            <a:spAutoFit/>
          </a:bodyPr>
          <a:lstStyle/>
          <a:p>
            <a:pPr>
              <a:spcAft>
                <a:spcPts val="1200"/>
              </a:spcAft>
              <a:defRPr sz="1600">
                <a:solidFill>
                  <a:srgbClr val="37474F"/>
                </a:solidFill>
                <a:latin typeface="Arial"/>
              </a:defRPr>
            </a:pPr>
            <a:r>
              <a:t>FarmWise AI is an agentic, RAG-enabled Smart Farming Advisor built on Next.js, FastAPI, ChromaDB, and IBM Watsonx.ai with IBM Granite. The system combines localized API databases with deep retrieval-augmented search to support smallholders with trustworthy answers.</a:t>
            </a:r>
          </a:p>
          <a:p>
            <a:pPr>
              <a:spcAft>
                <a:spcPts val="800"/>
              </a:spcAft>
            </a:pPr>
            <a:r>
              <a:rPr sz="1500" b="1">
                <a:solidFill>
                  <a:srgbClr val="15803D"/>
                </a:solidFill>
                <a:latin typeface="Arial"/>
              </a:rPr>
              <a:t>• Retrieval-Augmented Generation (RAG): </a:t>
            </a:r>
            <a:r>
              <a:rPr sz="1500">
                <a:solidFill>
                  <a:srgbClr val="37474F"/>
                </a:solidFill>
                <a:latin typeface="Arial"/>
              </a:rPr>
              <a:t>Utilizes a highly optimized pipeline featuring a ChromaDB vector store loaded with 58 curated agricultural documents. Sentences are embedded using SentenceTransformers to fetch context for the LLM.</a:t>
            </a:r>
          </a:p>
          <a:p>
            <a:pPr>
              <a:spcAft>
                <a:spcPts val="800"/>
              </a:spcAft>
            </a:pPr>
            <a:r>
              <a:rPr sz="1500" b="1">
                <a:solidFill>
                  <a:srgbClr val="15803D"/>
                </a:solidFill>
                <a:latin typeface="Arial"/>
              </a:rPr>
              <a:t>• Agentic Intent Router: </a:t>
            </a:r>
            <a:r>
              <a:rPr sz="1500">
                <a:solidFill>
                  <a:srgbClr val="37474F"/>
                </a:solidFill>
                <a:latin typeface="Arial"/>
              </a:rPr>
              <a:t>Determines the farmer's query intent (Crops, Weather, Pest, Mandi, Schemes) and routes queries dynamically to feature-specific modules or retrieves local database files.</a:t>
            </a:r>
          </a:p>
          <a:p>
            <a:pPr>
              <a:spcAft>
                <a:spcPts val="800"/>
              </a:spcAft>
            </a:pPr>
            <a:r>
              <a:rPr sz="1500" b="1">
                <a:solidFill>
                  <a:srgbClr val="15803D"/>
                </a:solidFill>
                <a:latin typeface="Arial"/>
              </a:rPr>
              <a:t>• Real-Time External Integrations: </a:t>
            </a:r>
            <a:r>
              <a:rPr sz="1500">
                <a:solidFill>
                  <a:srgbClr val="37474F"/>
                </a:solidFill>
                <a:latin typeface="Arial"/>
              </a:rPr>
              <a:t>Integrates meteorological data for regional farming advice and mandi market pricing data directly from government API streams (data.gov.in) to bypass intermediaries.</a:t>
            </a:r>
          </a:p>
          <a:p>
            <a:pPr>
              <a:spcAft>
                <a:spcPts val="800"/>
              </a:spcAft>
            </a:pPr>
            <a:r>
              <a:rPr sz="1500" b="1">
                <a:solidFill>
                  <a:srgbClr val="15803D"/>
                </a:solidFill>
                <a:latin typeface="Arial"/>
              </a:rPr>
              <a:t>• Multilingual Voice Interface: </a:t>
            </a:r>
            <a:r>
              <a:rPr sz="1500">
                <a:solidFill>
                  <a:srgbClr val="37474F"/>
                </a:solidFill>
                <a:latin typeface="Arial"/>
              </a:rPr>
              <a:t>Processes text or speech inputs, translates regional dialects to English for processing, and translates the AI advice back with audio playback capabilities to accommodate illiterate farmers.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17352" cy="731520"/>
          </a:xfrm>
          <a:prstGeom prst="rect">
            <a:avLst/>
          </a:prstGeom>
          <a:noFill/>
        </p:spPr>
        <p:txBody>
          <a:bodyPr wrap="square">
            <a:spAutoFit/>
          </a:bodyPr>
          <a:lstStyle/>
          <a:p>
            <a:pPr>
              <a:defRPr sz="2800" b="1">
                <a:solidFill>
                  <a:srgbClr val="15803D"/>
                </a:solidFill>
                <a:latin typeface="Arial"/>
              </a:defRPr>
            </a:pPr>
            <a:r>
              <a:t>Technology Stack</a:t>
            </a:r>
          </a:p>
        </p:txBody>
      </p:sp>
      <p:sp>
        <p:nvSpPr>
          <p:cNvPr id="3" name="TextBox 2"/>
          <p:cNvSpPr txBox="1"/>
          <p:nvPr/>
        </p:nvSpPr>
        <p:spPr>
          <a:xfrm>
            <a:off x="685800" y="1188720"/>
            <a:ext cx="10817352" cy="3652282"/>
          </a:xfrm>
          <a:prstGeom prst="rect">
            <a:avLst/>
          </a:prstGeom>
          <a:noFill/>
        </p:spPr>
        <p:txBody>
          <a:bodyPr wrap="square">
            <a:spAutoFit/>
          </a:bodyPr>
          <a:lstStyle/>
          <a:p>
            <a:endParaRPr dirty="0"/>
          </a:p>
          <a:p>
            <a:pPr>
              <a:spcAft>
                <a:spcPts val="800"/>
              </a:spcAft>
            </a:pPr>
            <a:r>
              <a:rPr sz="1500" b="1" dirty="0">
                <a:solidFill>
                  <a:srgbClr val="15803D"/>
                </a:solidFill>
                <a:latin typeface="Arial"/>
              </a:rPr>
              <a:t>• IBM Watsonx.ai &amp; Granite Model</a:t>
            </a:r>
            <a:r>
              <a:rPr lang="en-IN" sz="1500" b="1" dirty="0">
                <a:solidFill>
                  <a:srgbClr val="15803D"/>
                </a:solidFill>
                <a:latin typeface="Arial"/>
              </a:rPr>
              <a:t> (IBM-BOB)</a:t>
            </a:r>
            <a:r>
              <a:rPr sz="1500" b="1" dirty="0">
                <a:solidFill>
                  <a:srgbClr val="15803D"/>
                </a:solidFill>
                <a:latin typeface="Arial"/>
              </a:rPr>
              <a:t>: </a:t>
            </a:r>
            <a:r>
              <a:rPr sz="1500" dirty="0">
                <a:solidFill>
                  <a:srgbClr val="37474F"/>
                </a:solidFill>
                <a:latin typeface="Arial"/>
              </a:rPr>
              <a:t>Provides the foundation for scalable, high-speed LLM deployment. Uses the '</a:t>
            </a:r>
            <a:r>
              <a:rPr sz="1500" dirty="0" err="1">
                <a:solidFill>
                  <a:srgbClr val="37474F"/>
                </a:solidFill>
                <a:latin typeface="Arial"/>
              </a:rPr>
              <a:t>ibm</a:t>
            </a:r>
            <a:r>
              <a:rPr sz="1500" dirty="0">
                <a:solidFill>
                  <a:srgbClr val="37474F"/>
                </a:solidFill>
                <a:latin typeface="Arial"/>
              </a:rPr>
              <a:t>/granite-4-h-small' model via </a:t>
            </a:r>
            <a:r>
              <a:rPr sz="1500" dirty="0" err="1">
                <a:solidFill>
                  <a:srgbClr val="37474F"/>
                </a:solidFill>
                <a:latin typeface="Arial"/>
              </a:rPr>
              <a:t>langchain-ibm</a:t>
            </a:r>
            <a:r>
              <a:rPr sz="1500" dirty="0">
                <a:solidFill>
                  <a:srgbClr val="37474F"/>
                </a:solidFill>
                <a:latin typeface="Arial"/>
              </a:rPr>
              <a:t> API, which is optimized for fast, accurate context reasoning.</a:t>
            </a:r>
          </a:p>
          <a:p>
            <a:pPr>
              <a:spcAft>
                <a:spcPts val="800"/>
              </a:spcAft>
            </a:pPr>
            <a:r>
              <a:rPr sz="1500" b="1" dirty="0">
                <a:solidFill>
                  <a:srgbClr val="15803D"/>
                </a:solidFill>
                <a:latin typeface="Arial"/>
              </a:rPr>
              <a:t>• </a:t>
            </a:r>
            <a:r>
              <a:rPr sz="1500" b="1" dirty="0" err="1">
                <a:solidFill>
                  <a:srgbClr val="15803D"/>
                </a:solidFill>
                <a:latin typeface="Arial"/>
              </a:rPr>
              <a:t>FastAPI</a:t>
            </a:r>
            <a:r>
              <a:rPr sz="1500" b="1" dirty="0">
                <a:solidFill>
                  <a:srgbClr val="15803D"/>
                </a:solidFill>
                <a:latin typeface="Arial"/>
              </a:rPr>
              <a:t> Backend (Python): </a:t>
            </a:r>
            <a:r>
              <a:rPr sz="1500" dirty="0">
                <a:solidFill>
                  <a:srgbClr val="37474F"/>
                </a:solidFill>
                <a:latin typeface="Arial"/>
              </a:rPr>
              <a:t>Exposes high-concurrency REST endpoints, manages CORS origins, runs RAG lookups, and hosts automated module scripts (crops, pests, weather).</a:t>
            </a:r>
          </a:p>
          <a:p>
            <a:pPr>
              <a:spcAft>
                <a:spcPts val="800"/>
              </a:spcAft>
            </a:pPr>
            <a:r>
              <a:rPr sz="1500" b="1" dirty="0">
                <a:solidFill>
                  <a:srgbClr val="15803D"/>
                </a:solidFill>
                <a:latin typeface="Arial"/>
              </a:rPr>
              <a:t>• Next.js &amp; React Frontend: </a:t>
            </a:r>
            <a:r>
              <a:rPr sz="1500" dirty="0">
                <a:solidFill>
                  <a:srgbClr val="37474F"/>
                </a:solidFill>
                <a:latin typeface="Arial"/>
              </a:rPr>
              <a:t>Delivers a responsive, modern </a:t>
            </a:r>
            <a:r>
              <a:rPr sz="1500" dirty="0" err="1">
                <a:solidFill>
                  <a:srgbClr val="37474F"/>
                </a:solidFill>
                <a:latin typeface="Arial"/>
              </a:rPr>
              <a:t>glassmorphic</a:t>
            </a:r>
            <a:r>
              <a:rPr sz="1500" dirty="0">
                <a:solidFill>
                  <a:srgbClr val="37474F"/>
                </a:solidFill>
                <a:latin typeface="Arial"/>
              </a:rPr>
              <a:t> web dashboard with multilingual tab navigation, voice speech recognition, and Text-to-Speech playback.</a:t>
            </a:r>
          </a:p>
          <a:p>
            <a:pPr>
              <a:spcAft>
                <a:spcPts val="800"/>
              </a:spcAft>
            </a:pPr>
            <a:r>
              <a:rPr sz="1500" b="1" dirty="0">
                <a:solidFill>
                  <a:srgbClr val="15803D"/>
                </a:solidFill>
                <a:latin typeface="Arial"/>
              </a:rPr>
              <a:t>• RAG Pipeline &amp; Embeddings: </a:t>
            </a:r>
            <a:r>
              <a:rPr sz="1500" dirty="0">
                <a:solidFill>
                  <a:srgbClr val="37474F"/>
                </a:solidFill>
                <a:latin typeface="Arial"/>
              </a:rPr>
              <a:t>Combines </a:t>
            </a:r>
            <a:r>
              <a:rPr sz="1500" dirty="0" err="1">
                <a:solidFill>
                  <a:srgbClr val="37474F"/>
                </a:solidFill>
                <a:latin typeface="Arial"/>
              </a:rPr>
              <a:t>ChromaDB</a:t>
            </a:r>
            <a:r>
              <a:rPr sz="1500" dirty="0">
                <a:solidFill>
                  <a:srgbClr val="37474F"/>
                </a:solidFill>
                <a:latin typeface="Arial"/>
              </a:rPr>
              <a:t> vector database (FAISS/Chroma equivalent) with </a:t>
            </a:r>
            <a:r>
              <a:rPr sz="1500" dirty="0" err="1">
                <a:solidFill>
                  <a:srgbClr val="37474F"/>
                </a:solidFill>
                <a:latin typeface="Arial"/>
              </a:rPr>
              <a:t>SentenceTransformers</a:t>
            </a:r>
            <a:r>
              <a:rPr sz="1500" dirty="0">
                <a:solidFill>
                  <a:srgbClr val="37474F"/>
                </a:solidFill>
                <a:latin typeface="Arial"/>
              </a:rPr>
              <a:t> 'all-MiniLM-L6-v2' to enable precise chunk retrieval from 58 curated documents.</a:t>
            </a:r>
          </a:p>
          <a:p>
            <a:pPr>
              <a:spcAft>
                <a:spcPts val="800"/>
              </a:spcAft>
            </a:pPr>
            <a:r>
              <a:rPr sz="1500" b="1" dirty="0">
                <a:solidFill>
                  <a:srgbClr val="15803D"/>
                </a:solidFill>
                <a:latin typeface="Arial"/>
              </a:rPr>
              <a:t>• External Integrations: </a:t>
            </a:r>
            <a:r>
              <a:rPr sz="1500" dirty="0">
                <a:solidFill>
                  <a:srgbClr val="37474F"/>
                </a:solidFill>
                <a:latin typeface="Arial"/>
              </a:rPr>
              <a:t>Open-</a:t>
            </a:r>
            <a:r>
              <a:rPr sz="1500" dirty="0" err="1">
                <a:solidFill>
                  <a:srgbClr val="37474F"/>
                </a:solidFill>
                <a:latin typeface="Arial"/>
              </a:rPr>
              <a:t>Meteo</a:t>
            </a:r>
            <a:r>
              <a:rPr sz="1500" dirty="0">
                <a:solidFill>
                  <a:srgbClr val="37474F"/>
                </a:solidFill>
                <a:latin typeface="Arial"/>
              </a:rPr>
              <a:t> API for real-time weather and 7-day forecasts; Government data.gov.in API for live Mandi market commodity prices.</a:t>
            </a:r>
          </a:p>
          <a:p>
            <a:pPr>
              <a:spcAft>
                <a:spcPts val="800"/>
              </a:spcAft>
            </a:pPr>
            <a:r>
              <a:rPr sz="1500" b="1" dirty="0">
                <a:solidFill>
                  <a:srgbClr val="15803D"/>
                </a:solidFill>
                <a:latin typeface="Arial"/>
              </a:rPr>
              <a:t>• Docker &amp; Cloud Hosting: </a:t>
            </a:r>
            <a:r>
              <a:rPr sz="1500" dirty="0" err="1">
                <a:solidFill>
                  <a:srgbClr val="37474F"/>
                </a:solidFill>
                <a:latin typeface="Arial"/>
              </a:rPr>
              <a:t>Dockerized</a:t>
            </a:r>
            <a:r>
              <a:rPr sz="1500" dirty="0">
                <a:solidFill>
                  <a:srgbClr val="37474F"/>
                </a:solidFill>
                <a:latin typeface="Arial"/>
              </a:rPr>
              <a:t> backend environment deployed on Render for instant scalability; Frontend built and deployed on Netlify connected to GitHub.</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17352" cy="731520"/>
          </a:xfrm>
          <a:prstGeom prst="rect">
            <a:avLst/>
          </a:prstGeom>
          <a:noFill/>
        </p:spPr>
        <p:txBody>
          <a:bodyPr wrap="square">
            <a:spAutoFit/>
          </a:bodyPr>
          <a:lstStyle/>
          <a:p>
            <a:pPr>
              <a:defRPr sz="2800" b="1">
                <a:solidFill>
                  <a:srgbClr val="15803D"/>
                </a:solidFill>
                <a:latin typeface="Arial"/>
              </a:defRPr>
            </a:pPr>
            <a:r>
              <a:t>System Components &amp; Architecture Details</a:t>
            </a:r>
          </a:p>
        </p:txBody>
      </p:sp>
      <p:sp>
        <p:nvSpPr>
          <p:cNvPr id="3" name="TextBox 2"/>
          <p:cNvSpPr txBox="1"/>
          <p:nvPr/>
        </p:nvSpPr>
        <p:spPr>
          <a:xfrm>
            <a:off x="685800" y="1188720"/>
            <a:ext cx="10817352" cy="5029200"/>
          </a:xfrm>
          <a:prstGeom prst="rect">
            <a:avLst/>
          </a:prstGeom>
          <a:noFill/>
        </p:spPr>
        <p:txBody>
          <a:bodyPr wrap="square">
            <a:spAutoFit/>
          </a:bodyPr>
          <a:lstStyle/>
          <a:p>
            <a:endParaRPr/>
          </a:p>
          <a:p>
            <a:pPr>
              <a:spcAft>
                <a:spcPts val="800"/>
              </a:spcAft>
            </a:pPr>
            <a:r>
              <a:rPr sz="1500" b="1">
                <a:solidFill>
                  <a:srgbClr val="15803D"/>
                </a:solidFill>
                <a:latin typeface="Arial"/>
              </a:rPr>
              <a:t>1) Multilingual Chat Input: </a:t>
            </a:r>
            <a:r>
              <a:rPr sz="1500">
                <a:solidFill>
                  <a:srgbClr val="37474F"/>
                </a:solidFill>
                <a:latin typeface="Arial"/>
              </a:rPr>
              <a:t>Frontend interface enabling farmers to input questions via keyboard typing or microphone speech. Translates inputs in real-time using Google Translate API.</a:t>
            </a:r>
          </a:p>
          <a:p>
            <a:pPr>
              <a:spcAft>
                <a:spcPts val="800"/>
              </a:spcAft>
            </a:pPr>
            <a:r>
              <a:rPr sz="1500" b="1">
                <a:solidFill>
                  <a:srgbClr val="15803D"/>
                </a:solidFill>
                <a:latin typeface="Arial"/>
              </a:rPr>
              <a:t>2) FastAPI RAG Pipeline &amp; Vector DB: </a:t>
            </a:r>
            <a:r>
              <a:rPr sz="1500">
                <a:solidFill>
                  <a:srgbClr val="37474F"/>
                </a:solidFill>
                <a:latin typeface="Arial"/>
              </a:rPr>
              <a:t>Searches ChromaDB vector store loaded with agricultural text files. Resolves chunks matching the query to serve as contextual groundings for Granite.</a:t>
            </a:r>
          </a:p>
          <a:p>
            <a:pPr>
              <a:spcAft>
                <a:spcPts val="800"/>
              </a:spcAft>
            </a:pPr>
            <a:r>
              <a:rPr sz="1500" b="1">
                <a:solidFill>
                  <a:srgbClr val="15803D"/>
                </a:solidFill>
                <a:latin typeface="Arial"/>
              </a:rPr>
              <a:t>3) IBM Watsonx AI Agent: </a:t>
            </a:r>
            <a:r>
              <a:rPr sz="1500">
                <a:solidFill>
                  <a:srgbClr val="37474F"/>
                </a:solidFill>
                <a:latin typeface="Arial"/>
              </a:rPr>
              <a:t>Queries the 'ibm/granite-4-h-small' model, passing the merged prompt (system prompt + context chunks + user query) to produce high-fidelity advice.</a:t>
            </a:r>
          </a:p>
          <a:p>
            <a:pPr>
              <a:spcAft>
                <a:spcPts val="800"/>
              </a:spcAft>
            </a:pPr>
            <a:r>
              <a:rPr sz="1500" b="1">
                <a:solidFill>
                  <a:srgbClr val="15803D"/>
                </a:solidFill>
                <a:latin typeface="Arial"/>
              </a:rPr>
              <a:t>4) Weather &amp; Mandi API Resolvers: </a:t>
            </a:r>
            <a:r>
              <a:rPr sz="1500">
                <a:solidFill>
                  <a:srgbClr val="37474F"/>
                </a:solidFill>
                <a:latin typeface="Arial"/>
              </a:rPr>
              <a:t>Python background modules that query live API streams when the Agent Router detects meteorological or price-related intents.</a:t>
            </a:r>
          </a:p>
          <a:p>
            <a:pPr>
              <a:spcAft>
                <a:spcPts val="800"/>
              </a:spcAft>
            </a:pPr>
            <a:r>
              <a:rPr sz="1500" b="1">
                <a:solidFill>
                  <a:srgbClr val="15803D"/>
                </a:solidFill>
                <a:latin typeface="Arial"/>
              </a:rPr>
              <a:t>5) Audio Text-To-Speech (TTS): </a:t>
            </a:r>
            <a:r>
              <a:rPr sz="1500">
                <a:solidFill>
                  <a:srgbClr val="37474F"/>
                </a:solidFill>
                <a:latin typeface="Arial"/>
              </a:rPr>
              <a:t>Converts the final translated response into an audio player so farmers can listen to instructions instead of reading them.</a:t>
            </a:r>
          </a:p>
          <a:p>
            <a:pPr>
              <a:spcAft>
                <a:spcPts val="800"/>
              </a:spcAft>
            </a:pPr>
            <a:r>
              <a:rPr sz="1500" b="1">
                <a:solidFill>
                  <a:srgbClr val="15803D"/>
                </a:solidFill>
                <a:latin typeface="Arial"/>
              </a:rPr>
              <a:t>6) Docker Container Deployment: </a:t>
            </a:r>
            <a:r>
              <a:rPr sz="1500">
                <a:solidFill>
                  <a:srgbClr val="37474F"/>
                </a:solidFill>
                <a:latin typeface="Arial"/>
              </a:rPr>
              <a:t>Allows consistent dependencies (torch, sentence-transformers, chroma) to be built and run seamlessly on Render's cloud infrastructure.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17352" cy="731520"/>
          </a:xfrm>
          <a:prstGeom prst="rect">
            <a:avLst/>
          </a:prstGeom>
          <a:noFill/>
        </p:spPr>
        <p:txBody>
          <a:bodyPr wrap="square">
            <a:spAutoFit/>
          </a:bodyPr>
          <a:lstStyle/>
          <a:p>
            <a:pPr>
              <a:defRPr sz="2800" b="1">
                <a:solidFill>
                  <a:srgbClr val="15803D"/>
                </a:solidFill>
                <a:latin typeface="Arial"/>
              </a:defRPr>
            </a:pPr>
            <a:r>
              <a:t>FarmWise AI: Chat &amp; Disease Diagnostic Interface</a:t>
            </a:r>
          </a:p>
        </p:txBody>
      </p:sp>
      <p:sp>
        <p:nvSpPr>
          <p:cNvPr id="5" name="TextBox 4"/>
          <p:cNvSpPr txBox="1"/>
          <p:nvPr/>
        </p:nvSpPr>
        <p:spPr>
          <a:xfrm>
            <a:off x="685800" y="5577840"/>
            <a:ext cx="10817352" cy="914400"/>
          </a:xfrm>
          <a:prstGeom prst="rect">
            <a:avLst/>
          </a:prstGeom>
          <a:noFill/>
        </p:spPr>
        <p:txBody>
          <a:bodyPr wrap="square">
            <a:spAutoFit/>
          </a:bodyPr>
          <a:lstStyle/>
          <a:p>
            <a:pPr algn="ctr">
              <a:defRPr sz="1500" i="1">
                <a:solidFill>
                  <a:srgbClr val="37474F"/>
                </a:solidFill>
                <a:latin typeface="Arial"/>
              </a:defRPr>
            </a:pPr>
            <a:r>
              <a:t>Left: FarmWise AI localized chat screen greeting the farmer with available options. Right: Step-by-step, context-aware cotton growing guide retrieved using the RAG pipeline and IBM Granite.</a:t>
            </a:r>
          </a:p>
        </p:txBody>
      </p:sp>
      <p:pic>
        <p:nvPicPr>
          <p:cNvPr id="7" name="Picture 6">
            <a:extLst>
              <a:ext uri="{FF2B5EF4-FFF2-40B4-BE49-F238E27FC236}">
                <a16:creationId xmlns:a16="http://schemas.microsoft.com/office/drawing/2014/main" id="{B3493594-4E98-4AF9-047F-B517BF2CD8B3}"/>
              </a:ext>
            </a:extLst>
          </p:cNvPr>
          <p:cNvPicPr>
            <a:picLocks noChangeAspect="1"/>
          </p:cNvPicPr>
          <p:nvPr/>
        </p:nvPicPr>
        <p:blipFill>
          <a:blip r:embed="rId2"/>
          <a:stretch>
            <a:fillRect/>
          </a:stretch>
        </p:blipFill>
        <p:spPr>
          <a:xfrm>
            <a:off x="0" y="1359724"/>
            <a:ext cx="5833622" cy="3878877"/>
          </a:xfrm>
          <a:prstGeom prst="rect">
            <a:avLst/>
          </a:prstGeom>
        </p:spPr>
      </p:pic>
      <p:pic>
        <p:nvPicPr>
          <p:cNvPr id="9" name="Picture 8">
            <a:extLst>
              <a:ext uri="{FF2B5EF4-FFF2-40B4-BE49-F238E27FC236}">
                <a16:creationId xmlns:a16="http://schemas.microsoft.com/office/drawing/2014/main" id="{EA0554E2-EC10-13FF-D30C-D9380872115C}"/>
              </a:ext>
            </a:extLst>
          </p:cNvPr>
          <p:cNvPicPr>
            <a:picLocks noChangeAspect="1"/>
          </p:cNvPicPr>
          <p:nvPr/>
        </p:nvPicPr>
        <p:blipFill>
          <a:blip r:embed="rId3"/>
          <a:stretch>
            <a:fillRect/>
          </a:stretch>
        </p:blipFill>
        <p:spPr>
          <a:xfrm>
            <a:off x="5955010" y="1359724"/>
            <a:ext cx="6236990" cy="387887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17352" cy="731520"/>
          </a:xfrm>
          <a:prstGeom prst="rect">
            <a:avLst/>
          </a:prstGeom>
          <a:noFill/>
        </p:spPr>
        <p:txBody>
          <a:bodyPr wrap="square">
            <a:spAutoFit/>
          </a:bodyPr>
          <a:lstStyle/>
          <a:p>
            <a:pPr>
              <a:defRPr sz="2800" b="1">
                <a:solidFill>
                  <a:srgbClr val="15803D"/>
                </a:solidFill>
                <a:latin typeface="Arial"/>
              </a:defRPr>
            </a:pPr>
            <a:r>
              <a:t>FarmWise AI: Weather &amp; Live Mandi Prices Features</a:t>
            </a:r>
          </a:p>
        </p:txBody>
      </p:sp>
      <p:pic>
        <p:nvPicPr>
          <p:cNvPr id="3" name="Picture 2" descr="media__1783514909262.png"/>
          <p:cNvPicPr>
            <a:picLocks noChangeAspect="1"/>
          </p:cNvPicPr>
          <p:nvPr/>
        </p:nvPicPr>
        <p:blipFill>
          <a:blip r:embed="rId2"/>
          <a:stretch>
            <a:fillRect/>
          </a:stretch>
        </p:blipFill>
        <p:spPr>
          <a:xfrm>
            <a:off x="685800" y="1371600"/>
            <a:ext cx="5120640" cy="4114800"/>
          </a:xfrm>
          <a:prstGeom prst="rect">
            <a:avLst/>
          </a:prstGeom>
        </p:spPr>
      </p:pic>
      <p:pic>
        <p:nvPicPr>
          <p:cNvPr id="4" name="Picture 3" descr="media__1783514913343.png"/>
          <p:cNvPicPr>
            <a:picLocks noChangeAspect="1"/>
          </p:cNvPicPr>
          <p:nvPr/>
        </p:nvPicPr>
        <p:blipFill>
          <a:blip r:embed="rId3"/>
          <a:stretch>
            <a:fillRect/>
          </a:stretch>
        </p:blipFill>
        <p:spPr>
          <a:xfrm>
            <a:off x="6217920" y="1371600"/>
            <a:ext cx="5120640" cy="4114800"/>
          </a:xfrm>
          <a:prstGeom prst="rect">
            <a:avLst/>
          </a:prstGeom>
        </p:spPr>
      </p:pic>
      <p:sp>
        <p:nvSpPr>
          <p:cNvPr id="5" name="TextBox 4"/>
          <p:cNvSpPr txBox="1"/>
          <p:nvPr/>
        </p:nvSpPr>
        <p:spPr>
          <a:xfrm>
            <a:off x="685800" y="5577840"/>
            <a:ext cx="10817352" cy="914400"/>
          </a:xfrm>
          <a:prstGeom prst="rect">
            <a:avLst/>
          </a:prstGeom>
          <a:noFill/>
        </p:spPr>
        <p:txBody>
          <a:bodyPr wrap="square">
            <a:spAutoFit/>
          </a:bodyPr>
          <a:lstStyle/>
          <a:p>
            <a:pPr algn="ctr">
              <a:defRPr sz="1500" i="1">
                <a:solidFill>
                  <a:srgbClr val="37474F"/>
                </a:solidFill>
                <a:latin typeface="Arial"/>
              </a:defRPr>
            </a:pPr>
            <a:r>
              <a:t>Left: Localized weather forecast and farming advisories tab. Right: Real-time Mandi market commodity pricing retrieved directly from data.gov.in (showing Akola and Rajkot rates for Cotton).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3D8241A-B2D2-4AC6-BE93-DE9F64E0EB19}"/>
              </a:ext>
            </a:extLst>
          </p:cNvPr>
          <p:cNvPicPr>
            <a:picLocks noChangeAspect="1"/>
          </p:cNvPicPr>
          <p:nvPr/>
        </p:nvPicPr>
        <p:blipFill>
          <a:blip r:embed="rId2"/>
          <a:stretch>
            <a:fillRect/>
          </a:stretch>
        </p:blipFill>
        <p:spPr>
          <a:xfrm>
            <a:off x="2178695" y="233516"/>
            <a:ext cx="7413251" cy="3362632"/>
          </a:xfrm>
          <a:prstGeom prst="rect">
            <a:avLst/>
          </a:prstGeom>
        </p:spPr>
      </p:pic>
      <p:pic>
        <p:nvPicPr>
          <p:cNvPr id="5" name="Picture 4">
            <a:extLst>
              <a:ext uri="{FF2B5EF4-FFF2-40B4-BE49-F238E27FC236}">
                <a16:creationId xmlns:a16="http://schemas.microsoft.com/office/drawing/2014/main" id="{E8D02EBD-B985-F326-DFF8-400386FE2047}"/>
              </a:ext>
            </a:extLst>
          </p:cNvPr>
          <p:cNvPicPr>
            <a:picLocks noChangeAspect="1"/>
          </p:cNvPicPr>
          <p:nvPr/>
        </p:nvPicPr>
        <p:blipFill>
          <a:blip r:embed="rId3"/>
          <a:stretch>
            <a:fillRect/>
          </a:stretch>
        </p:blipFill>
        <p:spPr>
          <a:xfrm>
            <a:off x="2178695" y="3805084"/>
            <a:ext cx="7310727" cy="2986548"/>
          </a:xfrm>
          <a:prstGeom prst="rect">
            <a:avLst/>
          </a:prstGeom>
        </p:spPr>
      </p:pic>
    </p:spTree>
    <p:extLst>
      <p:ext uri="{BB962C8B-B14F-4D97-AF65-F5344CB8AC3E}">
        <p14:creationId xmlns:p14="http://schemas.microsoft.com/office/powerpoint/2010/main" val="10687805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17352" cy="731520"/>
          </a:xfrm>
          <a:prstGeom prst="rect">
            <a:avLst/>
          </a:prstGeom>
          <a:noFill/>
        </p:spPr>
        <p:txBody>
          <a:bodyPr wrap="square">
            <a:spAutoFit/>
          </a:bodyPr>
          <a:lstStyle/>
          <a:p>
            <a:pPr>
              <a:defRPr sz="2800" b="1">
                <a:solidFill>
                  <a:srgbClr val="15803D"/>
                </a:solidFill>
                <a:latin typeface="Arial"/>
              </a:defRPr>
            </a:pPr>
            <a:r>
              <a:t>Role of Agentic AI in the solution</a:t>
            </a:r>
          </a:p>
        </p:txBody>
      </p:sp>
      <p:sp>
        <p:nvSpPr>
          <p:cNvPr id="3" name="TextBox 2"/>
          <p:cNvSpPr txBox="1"/>
          <p:nvPr/>
        </p:nvSpPr>
        <p:spPr>
          <a:xfrm>
            <a:off x="685800" y="1188720"/>
            <a:ext cx="5486400" cy="5029200"/>
          </a:xfrm>
          <a:prstGeom prst="rect">
            <a:avLst/>
          </a:prstGeom>
          <a:noFill/>
        </p:spPr>
        <p:txBody>
          <a:bodyPr wrap="square">
            <a:spAutoFit/>
          </a:bodyPr>
          <a:lstStyle/>
          <a:p>
            <a:pPr>
              <a:spcAft>
                <a:spcPts val="1000"/>
              </a:spcAft>
              <a:defRPr sz="2200" b="1">
                <a:solidFill>
                  <a:srgbClr val="15803D"/>
                </a:solidFill>
                <a:latin typeface="Arial"/>
              </a:defRPr>
            </a:pPr>
            <a:r>
              <a:t>Agentic AI in FarmWise Advisor</a:t>
            </a:r>
          </a:p>
          <a:p>
            <a:pPr>
              <a:spcAft>
                <a:spcPts val="1200"/>
              </a:spcAft>
              <a:defRPr sz="1600">
                <a:solidFill>
                  <a:srgbClr val="37474F"/>
                </a:solidFill>
                <a:latin typeface="Arial"/>
              </a:defRPr>
            </a:pPr>
            <a:r>
              <a:t>Agentic AI turns FarmWise AI from a standard chat search engine into an active, goal-driven farming assistant. Powered by IBM watsonx.ai and IBM Granite, it orchestrates multiple RAG documents and external API modules to give farmers specific recommendations.</a:t>
            </a:r>
          </a:p>
          <a:p>
            <a:pPr>
              <a:spcAft>
                <a:spcPts val="600"/>
              </a:spcAft>
              <a:defRPr sz="1400">
                <a:solidFill>
                  <a:srgbClr val="37474F"/>
                </a:solidFill>
                <a:latin typeface="Arial"/>
              </a:defRPr>
            </a:pPr>
            <a:r>
              <a:t>• Context Awareness: The system doesn't just read questions; it integrates the farmer's district, soil type, and crop parameters into a comprehensive prompting template.</a:t>
            </a:r>
          </a:p>
          <a:p>
            <a:pPr>
              <a:spcAft>
                <a:spcPts val="600"/>
              </a:spcAft>
              <a:defRPr sz="1400">
                <a:solidFill>
                  <a:srgbClr val="37474F"/>
                </a:solidFill>
                <a:latin typeface="Arial"/>
              </a:defRPr>
            </a:pPr>
            <a:r>
              <a:t>• Dynamic Intent Routing: Detects weather, crop recommendations, pest diagnostics, or mandi price intents to fetch targeted data before passing it to Granite.</a:t>
            </a:r>
          </a:p>
          <a:p>
            <a:pPr>
              <a:spcAft>
                <a:spcPts val="600"/>
              </a:spcAft>
              <a:defRPr sz="1400">
                <a:solidFill>
                  <a:srgbClr val="37474F"/>
                </a:solidFill>
                <a:latin typeface="Arial"/>
              </a:defRPr>
            </a:pPr>
            <a:r>
              <a:t>• Active Decision Support: Synthesizes live weather alerts and soil conditions to output specific farming actions (e.g., advising against sowing if heavy rains are forecast).</a:t>
            </a:r>
          </a:p>
          <a:p>
            <a:pPr>
              <a:spcAft>
                <a:spcPts val="600"/>
              </a:spcAft>
              <a:defRPr sz="1400">
                <a:solidFill>
                  <a:srgbClr val="37474F"/>
                </a:solidFill>
                <a:latin typeface="Arial"/>
              </a:defRPr>
            </a:pPr>
            <a:r>
              <a:t>• Multilingual Dialogue Loop: Operates seamlessly in local languages, helping farmers understand instructions via natural voice playback.</a:t>
            </a:r>
          </a:p>
        </p:txBody>
      </p:sp>
      <p:pic>
        <p:nvPicPr>
          <p:cNvPr id="4" name="Picture 3" descr="page_9_img_1.jpeg"/>
          <p:cNvPicPr>
            <a:picLocks noChangeAspect="1"/>
          </p:cNvPicPr>
          <p:nvPr/>
        </p:nvPicPr>
        <p:blipFill>
          <a:blip r:embed="rId2"/>
          <a:stretch>
            <a:fillRect/>
          </a:stretch>
        </p:blipFill>
        <p:spPr>
          <a:xfrm>
            <a:off x="6858000" y="1188720"/>
            <a:ext cx="4645152" cy="464515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17352" cy="731520"/>
          </a:xfrm>
          <a:prstGeom prst="rect">
            <a:avLst/>
          </a:prstGeom>
          <a:noFill/>
        </p:spPr>
        <p:txBody>
          <a:bodyPr wrap="square">
            <a:spAutoFit/>
          </a:bodyPr>
          <a:lstStyle/>
          <a:p>
            <a:pPr>
              <a:defRPr sz="2800" b="1">
                <a:solidFill>
                  <a:srgbClr val="15803D"/>
                </a:solidFill>
                <a:latin typeface="Arial"/>
              </a:defRPr>
            </a:pPr>
            <a:r>
              <a:t>Token Usage &amp; Deployment Metrics</a:t>
            </a:r>
          </a:p>
        </p:txBody>
      </p:sp>
      <p:sp>
        <p:nvSpPr>
          <p:cNvPr id="3" name="TextBox 2"/>
          <p:cNvSpPr txBox="1"/>
          <p:nvPr/>
        </p:nvSpPr>
        <p:spPr>
          <a:xfrm>
            <a:off x="685800" y="1188720"/>
            <a:ext cx="10817352" cy="5029200"/>
          </a:xfrm>
          <a:prstGeom prst="rect">
            <a:avLst/>
          </a:prstGeom>
          <a:noFill/>
        </p:spPr>
        <p:txBody>
          <a:bodyPr wrap="square">
            <a:spAutoFit/>
          </a:bodyPr>
          <a:lstStyle/>
          <a:p>
            <a:pPr>
              <a:spcAft>
                <a:spcPts val="1000"/>
              </a:spcAft>
              <a:defRPr sz="2200" b="1">
                <a:solidFill>
                  <a:srgbClr val="15803D"/>
                </a:solidFill>
                <a:latin typeface="Arial"/>
              </a:defRPr>
            </a:pPr>
            <a:r>
              <a:t>Token Efficiency &amp; API Deployment</a:t>
            </a:r>
          </a:p>
          <a:p>
            <a:pPr>
              <a:spcAft>
                <a:spcPts val="1200"/>
              </a:spcAft>
              <a:defRPr sz="1600">
                <a:solidFill>
                  <a:srgbClr val="37474F"/>
                </a:solidFill>
                <a:latin typeface="Arial"/>
              </a:defRPr>
            </a:pPr>
            <a:r>
              <a:t>To deploy a production-grade solution on the free-tier cloud without computational lag, the RAG and LLM parameters were highly optimized:</a:t>
            </a:r>
          </a:p>
          <a:p>
            <a:pPr>
              <a:spcAft>
                <a:spcPts val="800"/>
              </a:spcAft>
            </a:pPr>
            <a:r>
              <a:rPr sz="1500" b="1">
                <a:solidFill>
                  <a:srgbClr val="15803D"/>
                </a:solidFill>
                <a:latin typeface="Arial"/>
              </a:rPr>
              <a:t>• Context Chunk Paring: </a:t>
            </a:r>
            <a:r>
              <a:rPr sz="1500">
                <a:solidFill>
                  <a:srgbClr val="37474F"/>
                </a:solidFill>
                <a:latin typeface="Arial"/>
              </a:rPr>
              <a:t>Reduced vector search chunks from 5 to 3 in ChromaDB, lowering average input tokens by 40% while maintaining RAG coverage.</a:t>
            </a:r>
          </a:p>
          <a:p>
            <a:pPr>
              <a:spcAft>
                <a:spcPts val="800"/>
              </a:spcAft>
            </a:pPr>
            <a:r>
              <a:rPr sz="1500" b="1">
                <a:solidFill>
                  <a:srgbClr val="15803D"/>
                </a:solidFill>
                <a:latin typeface="Arial"/>
              </a:rPr>
              <a:t>• Watsonx Token Savings: </a:t>
            </a:r>
            <a:r>
              <a:rPr sz="1500">
                <a:solidFill>
                  <a:srgbClr val="37474F"/>
                </a:solidFill>
                <a:latin typeface="Arial"/>
              </a:rPr>
              <a:t>Pinned `max_new_tokens` to 400 inside langchain-ibm params. This cut response latency from 6.5s to under 1.8s while delivering complete instructions.</a:t>
            </a:r>
          </a:p>
          <a:p>
            <a:pPr>
              <a:spcAft>
                <a:spcPts val="800"/>
              </a:spcAft>
            </a:pPr>
            <a:r>
              <a:rPr sz="1500" b="1">
                <a:solidFill>
                  <a:srgbClr val="15803D"/>
                </a:solidFill>
                <a:latin typeface="Arial"/>
              </a:rPr>
              <a:t>• Average Token Count per Session: </a:t>
            </a:r>
            <a:r>
              <a:rPr sz="1500">
                <a:solidFill>
                  <a:srgbClr val="37474F"/>
                </a:solidFill>
                <a:latin typeface="Arial"/>
              </a:rPr>
              <a:t>Uses ~2,800 tokens for context + history + query. Extremely cost-effective for enterprise deployment under IBM Cloud Lite boundaries.</a:t>
            </a:r>
          </a:p>
          <a:p>
            <a:pPr>
              <a:spcAft>
                <a:spcPts val="800"/>
              </a:spcAft>
            </a:pPr>
            <a:r>
              <a:rPr sz="1500" b="1">
                <a:solidFill>
                  <a:srgbClr val="15803D"/>
                </a:solidFill>
                <a:latin typeface="Arial"/>
              </a:rPr>
              <a:t>• Docker Build Container Size: </a:t>
            </a:r>
            <a:r>
              <a:rPr sz="1500">
                <a:solidFill>
                  <a:srgbClr val="37474F"/>
                </a:solidFill>
                <a:latin typeface="Arial"/>
              </a:rPr>
              <a:t>Optimized dependencies using `torch==2.2.2+cpu` to avoid downloading 1.5GB of CUDA libraries. Decreased final container size on Render from 2.8GB to 850MB.</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17352" cy="731520"/>
          </a:xfrm>
          <a:prstGeom prst="rect">
            <a:avLst/>
          </a:prstGeom>
          <a:noFill/>
        </p:spPr>
        <p:txBody>
          <a:bodyPr wrap="square">
            <a:spAutoFit/>
          </a:bodyPr>
          <a:lstStyle/>
          <a:p>
            <a:pPr>
              <a:defRPr sz="2800" b="1">
                <a:solidFill>
                  <a:srgbClr val="15803D"/>
                </a:solidFill>
                <a:latin typeface="Arial"/>
              </a:defRPr>
            </a:pPr>
            <a:r>
              <a:t>Novelty and Uniqueness</a:t>
            </a:r>
          </a:p>
        </p:txBody>
      </p:sp>
      <p:sp>
        <p:nvSpPr>
          <p:cNvPr id="3" name="TextBox 2"/>
          <p:cNvSpPr txBox="1"/>
          <p:nvPr/>
        </p:nvSpPr>
        <p:spPr>
          <a:xfrm>
            <a:off x="685800" y="1188720"/>
            <a:ext cx="10817352" cy="5029200"/>
          </a:xfrm>
          <a:prstGeom prst="rect">
            <a:avLst/>
          </a:prstGeom>
          <a:noFill/>
        </p:spPr>
        <p:txBody>
          <a:bodyPr wrap="square">
            <a:spAutoFit/>
          </a:bodyPr>
          <a:lstStyle/>
          <a:p>
            <a:pPr>
              <a:spcAft>
                <a:spcPts val="1200"/>
              </a:spcAft>
              <a:defRPr sz="1600">
                <a:solidFill>
                  <a:srgbClr val="37474F"/>
                </a:solidFill>
                <a:latin typeface="Arial"/>
              </a:defRPr>
            </a:pPr>
            <a:r>
              <a:t>FarmWise AI stands out by successfully combining RAG document accuracy, live API feeds, and voice accessibility into a single lightweight farming assistant:</a:t>
            </a:r>
          </a:p>
          <a:p>
            <a:pPr>
              <a:spcAft>
                <a:spcPts val="800"/>
              </a:spcAft>
            </a:pPr>
            <a:r>
              <a:rPr sz="1500" b="1">
                <a:solidFill>
                  <a:srgbClr val="15803D"/>
                </a:solidFill>
                <a:latin typeface="Arial"/>
              </a:rPr>
              <a:t>• Dynamic Multi-Source Context: </a:t>
            </a:r>
            <a:r>
              <a:rPr sz="1500">
                <a:solidFill>
                  <a:srgbClr val="37474F"/>
                </a:solidFill>
                <a:latin typeface="Arial"/>
              </a:rPr>
              <a:t>Unlike static document search, FarmWise AI queries local RAG files and checks weather/mandi price API feeds at the same time to create custom, complete advice.</a:t>
            </a:r>
          </a:p>
          <a:p>
            <a:pPr>
              <a:spcAft>
                <a:spcPts val="800"/>
              </a:spcAft>
            </a:pPr>
            <a:r>
              <a:rPr sz="1500" b="1">
                <a:solidFill>
                  <a:srgbClr val="15803D"/>
                </a:solidFill>
                <a:latin typeface="Arial"/>
              </a:rPr>
              <a:t>• Real-Time Government Portal Pricing: </a:t>
            </a:r>
            <a:r>
              <a:rPr sz="1500">
                <a:solidFill>
                  <a:srgbClr val="37474F"/>
                </a:solidFill>
                <a:latin typeface="Arial"/>
              </a:rPr>
              <a:t>Fetches live mandi commodity prices directly from government servers, giving smallholder farmers leverage against middle-men.</a:t>
            </a:r>
          </a:p>
          <a:p>
            <a:pPr>
              <a:spcAft>
                <a:spcPts val="800"/>
              </a:spcAft>
            </a:pPr>
            <a:r>
              <a:rPr sz="1500" b="1">
                <a:solidFill>
                  <a:srgbClr val="15803D"/>
                </a:solidFill>
                <a:latin typeface="Arial"/>
              </a:rPr>
              <a:t>• Speech-to-Speech &amp; Voice Playback: </a:t>
            </a:r>
            <a:r>
              <a:rPr sz="1500">
                <a:solidFill>
                  <a:srgbClr val="37474F"/>
                </a:solidFill>
                <a:latin typeface="Arial"/>
              </a:rPr>
              <a:t>Built with speech recognition and speech synthesis to make AI insights accessible to illiterate or visually impaired farmers.</a:t>
            </a:r>
          </a:p>
          <a:p>
            <a:pPr>
              <a:spcAft>
                <a:spcPts val="800"/>
              </a:spcAft>
            </a:pPr>
            <a:r>
              <a:rPr sz="1500" b="1">
                <a:solidFill>
                  <a:srgbClr val="15803D"/>
                </a:solidFill>
                <a:latin typeface="Arial"/>
              </a:rPr>
              <a:t>• Fast, CPU-Only Local Docker Setup: </a:t>
            </a:r>
            <a:r>
              <a:rPr sz="1500">
                <a:solidFill>
                  <a:srgbClr val="37474F"/>
                </a:solidFill>
                <a:latin typeface="Arial"/>
              </a:rPr>
              <a:t>Optimized container build files reduce memory footprint, enabling high-performance deployment on free-tier Render CPU limits.</a:t>
            </a:r>
          </a:p>
          <a:p>
            <a:pPr>
              <a:spcAft>
                <a:spcPts val="800"/>
              </a:spcAft>
            </a:pPr>
            <a:r>
              <a:rPr sz="1500" b="1">
                <a:solidFill>
                  <a:srgbClr val="15803D"/>
                </a:solidFill>
                <a:latin typeface="Arial"/>
              </a:rPr>
              <a:t>• Strict Intent Filtering: </a:t>
            </a:r>
            <a:r>
              <a:rPr sz="1500">
                <a:solidFill>
                  <a:srgbClr val="37474F"/>
                </a:solidFill>
                <a:latin typeface="Arial"/>
              </a:rPr>
              <a:t>Features a Python intent router that filters out off-topic chats, protecting Watsonx API credits from abuse.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17352" cy="731520"/>
          </a:xfrm>
          <a:prstGeom prst="rect">
            <a:avLst/>
          </a:prstGeom>
          <a:noFill/>
        </p:spPr>
        <p:txBody>
          <a:bodyPr wrap="square">
            <a:spAutoFit/>
          </a:bodyPr>
          <a:lstStyle/>
          <a:p>
            <a:pPr>
              <a:defRPr sz="2800" b="1">
                <a:solidFill>
                  <a:srgbClr val="15803D"/>
                </a:solidFill>
                <a:latin typeface="Arial"/>
              </a:defRPr>
            </a:pPr>
            <a:r>
              <a:t>GitHub Repository &amp; Deployed Links</a:t>
            </a:r>
          </a:p>
        </p:txBody>
      </p:sp>
      <p:sp>
        <p:nvSpPr>
          <p:cNvPr id="3" name="TextBox 2"/>
          <p:cNvSpPr txBox="1"/>
          <p:nvPr/>
        </p:nvSpPr>
        <p:spPr>
          <a:xfrm>
            <a:off x="685800" y="1188720"/>
            <a:ext cx="10817352" cy="2526333"/>
          </a:xfrm>
          <a:prstGeom prst="rect">
            <a:avLst/>
          </a:prstGeom>
          <a:noFill/>
        </p:spPr>
        <p:txBody>
          <a:bodyPr wrap="square">
            <a:spAutoFit/>
          </a:bodyPr>
          <a:lstStyle/>
          <a:p>
            <a:pPr>
              <a:spcAft>
                <a:spcPts val="2000"/>
              </a:spcAft>
              <a:defRPr sz="1800">
                <a:solidFill>
                  <a:srgbClr val="37474F"/>
                </a:solidFill>
                <a:latin typeface="Arial"/>
              </a:defRPr>
            </a:pPr>
            <a:r>
              <a:rPr dirty="0"/>
              <a:t>Please explore the complete open-source codebase, files, and live deployments using the links below:</a:t>
            </a:r>
          </a:p>
          <a:p>
            <a:pPr>
              <a:spcAft>
                <a:spcPts val="1500"/>
              </a:spcAft>
            </a:pPr>
            <a:r>
              <a:rPr sz="1800" b="1" dirty="0">
                <a:solidFill>
                  <a:srgbClr val="15803D"/>
                </a:solidFill>
                <a:latin typeface="Arial"/>
              </a:rPr>
              <a:t>GitHub Repository: </a:t>
            </a:r>
            <a:r>
              <a:rPr lang="en-IN" u="sng" dirty="0">
                <a:solidFill>
                  <a:srgbClr val="2563EB"/>
                </a:solidFill>
                <a:latin typeface="Arial"/>
                <a:hlinkClick r:id="rId2"/>
              </a:rPr>
              <a:t>https://github.com/YaswanthKomminni/AI-AGENT-FARMING.git</a:t>
            </a:r>
            <a:endParaRPr lang="en-IN" u="sng" dirty="0">
              <a:solidFill>
                <a:srgbClr val="2563EB"/>
              </a:solidFill>
              <a:latin typeface="Arial"/>
            </a:endParaRPr>
          </a:p>
          <a:p>
            <a:pPr>
              <a:spcAft>
                <a:spcPts val="1500"/>
              </a:spcAft>
            </a:pPr>
            <a:r>
              <a:rPr sz="1800" b="1" dirty="0">
                <a:solidFill>
                  <a:srgbClr val="15803D"/>
                </a:solidFill>
                <a:latin typeface="Arial"/>
              </a:rPr>
              <a:t>Live Web App URL: </a:t>
            </a:r>
            <a:r>
              <a:rPr sz="1800" u="sng" dirty="0">
                <a:solidFill>
                  <a:srgbClr val="2563EB"/>
                </a:solidFill>
                <a:latin typeface="Arial"/>
              </a:rPr>
              <a:t>https://farmingagent.netlify.app/</a:t>
            </a:r>
          </a:p>
          <a:p>
            <a:pPr>
              <a:spcAft>
                <a:spcPts val="1500"/>
              </a:spcAft>
            </a:pPr>
            <a:r>
              <a:rPr sz="1800" b="1" dirty="0">
                <a:solidFill>
                  <a:srgbClr val="15803D"/>
                </a:solidFill>
                <a:latin typeface="Arial"/>
              </a:rPr>
              <a:t>Live Backend API URL: </a:t>
            </a:r>
            <a:r>
              <a:rPr sz="1800" u="sng" dirty="0">
                <a:solidFill>
                  <a:srgbClr val="2563EB"/>
                </a:solidFill>
                <a:latin typeface="Arial"/>
              </a:rPr>
              <a:t>https://ai-agent-farming.onrender.com</a:t>
            </a:r>
          </a:p>
          <a:p>
            <a:pPr>
              <a:spcAft>
                <a:spcPts val="2000"/>
              </a:spcAft>
              <a:defRPr sz="1600">
                <a:solidFill>
                  <a:srgbClr val="37474F"/>
                </a:solidFill>
                <a:latin typeface="Arial"/>
              </a:defRPr>
            </a:pPr>
            <a:r>
              <a:rPr dirty="0"/>
              <a:t>The repository is configured with a complete README, </a:t>
            </a:r>
            <a:r>
              <a:rPr dirty="0" err="1"/>
              <a:t>FastAPI</a:t>
            </a:r>
            <a:r>
              <a:rPr dirty="0"/>
              <a:t> backend setup, Next.js dashboard code, </a:t>
            </a:r>
            <a:r>
              <a:rPr dirty="0" err="1"/>
              <a:t>Dockerfile</a:t>
            </a:r>
            <a:r>
              <a:rPr dirty="0"/>
              <a:t> configurations, and custom module resolvers.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17352" cy="731520"/>
          </a:xfrm>
          <a:prstGeom prst="rect">
            <a:avLst/>
          </a:prstGeom>
          <a:noFill/>
        </p:spPr>
        <p:txBody>
          <a:bodyPr wrap="square">
            <a:spAutoFit/>
          </a:bodyPr>
          <a:lstStyle/>
          <a:p>
            <a:pPr>
              <a:defRPr sz="2800" b="1">
                <a:solidFill>
                  <a:srgbClr val="15803D"/>
                </a:solidFill>
                <a:latin typeface="Arial"/>
              </a:defRPr>
            </a:pPr>
            <a:r>
              <a:t>Future Scope</a:t>
            </a:r>
          </a:p>
        </p:txBody>
      </p:sp>
      <p:sp>
        <p:nvSpPr>
          <p:cNvPr id="3" name="TextBox 2"/>
          <p:cNvSpPr txBox="1"/>
          <p:nvPr/>
        </p:nvSpPr>
        <p:spPr>
          <a:xfrm>
            <a:off x="685800" y="1188720"/>
            <a:ext cx="10817352" cy="5029200"/>
          </a:xfrm>
          <a:prstGeom prst="rect">
            <a:avLst/>
          </a:prstGeom>
          <a:noFill/>
        </p:spPr>
        <p:txBody>
          <a:bodyPr wrap="square">
            <a:spAutoFit/>
          </a:bodyPr>
          <a:lstStyle/>
          <a:p>
            <a:endParaRPr/>
          </a:p>
          <a:p>
            <a:pPr>
              <a:spcAft>
                <a:spcPts val="1000"/>
              </a:spcAft>
            </a:pPr>
            <a:r>
              <a:rPr sz="1600" b="1">
                <a:solidFill>
                  <a:srgbClr val="15803D"/>
                </a:solidFill>
                <a:latin typeface="Arial"/>
              </a:rPr>
              <a:t>1. Soil IoT Sensor Integration – </a:t>
            </a:r>
            <a:r>
              <a:rPr sz="1500">
                <a:solidFill>
                  <a:srgbClr val="37474F"/>
                </a:solidFill>
                <a:latin typeface="Arial"/>
              </a:rPr>
              <a:t>Integrate with low-cost soil moisture, temperature, and NPK (Nitrogen, Phosphorus, Potassium) sensors. The AI advisor could automatically read these values and output custom watering or fertilizer schedules.</a:t>
            </a:r>
          </a:p>
          <a:p>
            <a:pPr>
              <a:spcAft>
                <a:spcPts val="1000"/>
              </a:spcAft>
            </a:pPr>
            <a:r>
              <a:rPr sz="1600" b="1">
                <a:solidFill>
                  <a:srgbClr val="15803D"/>
                </a:solidFill>
                <a:latin typeface="Arial"/>
              </a:rPr>
              <a:t>2. Image-Based Pest &amp; Disease Detection – </a:t>
            </a:r>
            <a:r>
              <a:rPr sz="1500">
                <a:solidFill>
                  <a:srgbClr val="37474F"/>
                </a:solidFill>
                <a:latin typeface="Arial"/>
              </a:rPr>
              <a:t>Add support for image uploads so farmers can take pictures of leaf spots, blights, or insect damage. The agent would run image classification models (via IBM Maximo or PyTorch) to diagnose the issue instantly.</a:t>
            </a:r>
          </a:p>
          <a:p>
            <a:pPr>
              <a:spcAft>
                <a:spcPts val="1000"/>
              </a:spcAft>
            </a:pPr>
            <a:r>
              <a:rPr sz="1600" b="1">
                <a:solidFill>
                  <a:srgbClr val="15803D"/>
                </a:solidFill>
                <a:latin typeface="Arial"/>
              </a:rPr>
              <a:t>3. Offline SMS/USSD Integration – </a:t>
            </a:r>
            <a:r>
              <a:rPr sz="1500">
                <a:solidFill>
                  <a:srgbClr val="37474F"/>
                </a:solidFill>
                <a:latin typeface="Arial"/>
              </a:rPr>
              <a:t>Extend accessibility for farmers using basic feature phones (without internet access). Queries could be processed offline using standard SMS/USSD protocols and routed to our backend API.</a:t>
            </a:r>
          </a:p>
          <a:p>
            <a:pPr>
              <a:spcAft>
                <a:spcPts val="1000"/>
              </a:spcAft>
            </a:pPr>
            <a:r>
              <a:rPr sz="1600" b="1">
                <a:solidFill>
                  <a:srgbClr val="15803D"/>
                </a:solidFill>
                <a:latin typeface="Arial"/>
              </a:rPr>
              <a:t>4. Personalized Government Scheme Matching – </a:t>
            </a:r>
            <a:r>
              <a:rPr sz="1500">
                <a:solidFill>
                  <a:srgbClr val="37474F"/>
                </a:solidFill>
                <a:latin typeface="Arial"/>
              </a:rPr>
              <a:t>Integrate deep farmer profile data (caste, land size, region) to automatically filter and match eligible government subsidies and schemes, increasing adoption rates.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17352" cy="523220"/>
          </a:xfrm>
          <a:prstGeom prst="rect">
            <a:avLst/>
          </a:prstGeom>
          <a:noFill/>
        </p:spPr>
        <p:txBody>
          <a:bodyPr wrap="square">
            <a:spAutoFit/>
          </a:bodyPr>
          <a:lstStyle/>
          <a:p>
            <a:pPr>
              <a:defRPr sz="2800" b="1">
                <a:solidFill>
                  <a:srgbClr val="15803D"/>
                </a:solidFill>
                <a:latin typeface="Arial"/>
              </a:defRPr>
            </a:pPr>
            <a:r>
              <a:rPr dirty="0"/>
              <a:t>Certificates Earned: G</a:t>
            </a:r>
            <a:r>
              <a:rPr lang="en-IN" dirty="0" err="1"/>
              <a:t>etting</a:t>
            </a:r>
            <a:r>
              <a:rPr lang="en-IN" dirty="0"/>
              <a:t> Started with Artificial Intelligence</a:t>
            </a:r>
            <a:endParaRPr dirty="0"/>
          </a:p>
        </p:txBody>
      </p:sp>
      <p:pic>
        <p:nvPicPr>
          <p:cNvPr id="5" name="Picture 4">
            <a:extLst>
              <a:ext uri="{FF2B5EF4-FFF2-40B4-BE49-F238E27FC236}">
                <a16:creationId xmlns:a16="http://schemas.microsoft.com/office/drawing/2014/main" id="{C202874A-3C46-C4BA-E9FD-DE065E9D74AA}"/>
              </a:ext>
            </a:extLst>
          </p:cNvPr>
          <p:cNvPicPr>
            <a:picLocks noChangeAspect="1"/>
          </p:cNvPicPr>
          <p:nvPr/>
        </p:nvPicPr>
        <p:blipFill>
          <a:blip r:embed="rId2"/>
          <a:stretch>
            <a:fillRect/>
          </a:stretch>
        </p:blipFill>
        <p:spPr>
          <a:xfrm>
            <a:off x="2113936" y="1413766"/>
            <a:ext cx="6888167" cy="535530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457200"/>
            <a:ext cx="10817352" cy="731520"/>
          </a:xfrm>
          <a:prstGeom prst="rect">
            <a:avLst/>
          </a:prstGeom>
          <a:noFill/>
        </p:spPr>
        <p:txBody>
          <a:bodyPr wrap="square">
            <a:spAutoFit/>
          </a:bodyPr>
          <a:lstStyle/>
          <a:p>
            <a:pPr>
              <a:defRPr sz="2800" b="1">
                <a:solidFill>
                  <a:srgbClr val="15803D"/>
                </a:solidFill>
                <a:latin typeface="Arial"/>
              </a:defRPr>
            </a:pPr>
            <a:r>
              <a:t>Certificates Earned: Lab - Troubleshoot Your Code Using IBM Bob</a:t>
            </a:r>
          </a:p>
        </p:txBody>
      </p:sp>
      <p:pic>
        <p:nvPicPr>
          <p:cNvPr id="5" name="Picture 4">
            <a:extLst>
              <a:ext uri="{FF2B5EF4-FFF2-40B4-BE49-F238E27FC236}">
                <a16:creationId xmlns:a16="http://schemas.microsoft.com/office/drawing/2014/main" id="{770F3466-B19B-52BC-B5EF-1779D856DC94}"/>
              </a:ext>
            </a:extLst>
          </p:cNvPr>
          <p:cNvPicPr>
            <a:picLocks noChangeAspect="1"/>
          </p:cNvPicPr>
          <p:nvPr/>
        </p:nvPicPr>
        <p:blipFill>
          <a:blip r:embed="rId2"/>
          <a:stretch>
            <a:fillRect/>
          </a:stretch>
        </p:blipFill>
        <p:spPr>
          <a:xfrm>
            <a:off x="1865647" y="1188720"/>
            <a:ext cx="8457657" cy="533365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6821EA5-A500-DF1A-907A-FED35AE81464}"/>
              </a:ext>
            </a:extLst>
          </p:cNvPr>
          <p:cNvPicPr>
            <a:picLocks noChangeAspect="1"/>
          </p:cNvPicPr>
          <p:nvPr/>
        </p:nvPicPr>
        <p:blipFill>
          <a:blip r:embed="rId2"/>
          <a:stretch>
            <a:fillRect/>
          </a:stretch>
        </p:blipFill>
        <p:spPr>
          <a:xfrm>
            <a:off x="1043502" y="277857"/>
            <a:ext cx="10104996" cy="6302286"/>
          </a:xfrm>
          <a:prstGeom prst="rect">
            <a:avLst/>
          </a:prstGeom>
        </p:spPr>
      </p:pic>
    </p:spTree>
    <p:extLst>
      <p:ext uri="{BB962C8B-B14F-4D97-AF65-F5344CB8AC3E}">
        <p14:creationId xmlns:p14="http://schemas.microsoft.com/office/powerpoint/2010/main" val="30153071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DB78C92-58F2-F69F-6925-5CFF013C5F8F}"/>
              </a:ext>
            </a:extLst>
          </p:cNvPr>
          <p:cNvPicPr>
            <a:picLocks noChangeAspect="1"/>
          </p:cNvPicPr>
          <p:nvPr/>
        </p:nvPicPr>
        <p:blipFill>
          <a:blip r:embed="rId2"/>
          <a:stretch>
            <a:fillRect/>
          </a:stretch>
        </p:blipFill>
        <p:spPr>
          <a:xfrm>
            <a:off x="1035881" y="300719"/>
            <a:ext cx="10120237" cy="6256562"/>
          </a:xfrm>
          <a:prstGeom prst="rect">
            <a:avLst/>
          </a:prstGeom>
        </p:spPr>
      </p:pic>
    </p:spTree>
    <p:extLst>
      <p:ext uri="{BB962C8B-B14F-4D97-AF65-F5344CB8AC3E}">
        <p14:creationId xmlns:p14="http://schemas.microsoft.com/office/powerpoint/2010/main" val="28588326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4C25DA-2441-9317-23EB-6D5BB327824A}"/>
              </a:ext>
            </a:extLst>
          </p:cNvPr>
          <p:cNvPicPr>
            <a:picLocks noChangeAspect="1"/>
          </p:cNvPicPr>
          <p:nvPr/>
        </p:nvPicPr>
        <p:blipFill>
          <a:blip r:embed="rId2"/>
          <a:stretch>
            <a:fillRect/>
          </a:stretch>
        </p:blipFill>
        <p:spPr>
          <a:xfrm>
            <a:off x="1043502" y="277857"/>
            <a:ext cx="10104996" cy="6302286"/>
          </a:xfrm>
          <a:prstGeom prst="rect">
            <a:avLst/>
          </a:prstGeom>
        </p:spPr>
      </p:pic>
    </p:spTree>
    <p:extLst>
      <p:ext uri="{BB962C8B-B14F-4D97-AF65-F5344CB8AC3E}">
        <p14:creationId xmlns:p14="http://schemas.microsoft.com/office/powerpoint/2010/main" val="39968802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5803D"/>
        </a:solidFill>
        <a:effectLst/>
      </p:bgPr>
    </p:bg>
    <p:spTree>
      <p:nvGrpSpPr>
        <p:cNvPr id="1" name=""/>
        <p:cNvGrpSpPr/>
        <p:nvPr/>
      </p:nvGrpSpPr>
      <p:grpSpPr>
        <a:xfrm>
          <a:off x="0" y="0"/>
          <a:ext cx="0" cy="0"/>
          <a:chOff x="0" y="0"/>
          <a:chExt cx="0" cy="0"/>
        </a:xfrm>
      </p:grpSpPr>
      <p:sp>
        <p:nvSpPr>
          <p:cNvPr id="2" name="TextBox 1"/>
          <p:cNvSpPr txBox="1"/>
          <p:nvPr/>
        </p:nvSpPr>
        <p:spPr>
          <a:xfrm>
            <a:off x="914400" y="2011680"/>
            <a:ext cx="10360152" cy="1828800"/>
          </a:xfrm>
          <a:prstGeom prst="rect">
            <a:avLst/>
          </a:prstGeom>
          <a:noFill/>
        </p:spPr>
        <p:txBody>
          <a:bodyPr wrap="square">
            <a:spAutoFit/>
          </a:bodyPr>
          <a:lstStyle/>
          <a:p>
            <a:pPr algn="ctr">
              <a:defRPr sz="5400" b="1">
                <a:solidFill>
                  <a:srgbClr val="FFFFFF"/>
                </a:solidFill>
                <a:latin typeface="Arial"/>
              </a:defRPr>
            </a:pPr>
            <a:r>
              <a:t>Thank You!</a:t>
            </a:r>
          </a:p>
        </p:txBody>
      </p:sp>
      <p:sp>
        <p:nvSpPr>
          <p:cNvPr id="3" name="TextBox 2"/>
          <p:cNvSpPr txBox="1"/>
          <p:nvPr/>
        </p:nvSpPr>
        <p:spPr>
          <a:xfrm>
            <a:off x="914400" y="3840480"/>
            <a:ext cx="10360152" cy="914400"/>
          </a:xfrm>
          <a:prstGeom prst="rect">
            <a:avLst/>
          </a:prstGeom>
          <a:noFill/>
        </p:spPr>
        <p:txBody>
          <a:bodyPr wrap="square">
            <a:spAutoFit/>
          </a:bodyPr>
          <a:lstStyle/>
          <a:p>
            <a:pPr algn="ctr">
              <a:defRPr sz="2200">
                <a:solidFill>
                  <a:srgbClr val="DCFCE7"/>
                </a:solidFill>
                <a:latin typeface="Arial"/>
              </a:defRPr>
            </a:pPr>
            <a:r>
              <a:rPr dirty="0"/>
              <a:t>Thank you for your time and interest.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26</TotalTime>
  <Words>1668</Words>
  <Application>Microsoft Office PowerPoint</Application>
  <PresentationFormat>Widescreen</PresentationFormat>
  <Paragraphs>85</Paragraphs>
  <Slides>20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KOMMINNI YASWANTH - [CB.SC.U4CSE24024]</cp:lastModifiedBy>
  <cp:revision>2</cp:revision>
  <dcterms:created xsi:type="dcterms:W3CDTF">2013-01-27T09:14:16Z</dcterms:created>
  <dcterms:modified xsi:type="dcterms:W3CDTF">2026-07-08T13:20:28Z</dcterms:modified>
  <cp:category/>
</cp:coreProperties>
</file>